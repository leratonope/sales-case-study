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78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rato Legodi" userId="cc3b4b859ddf9743" providerId="LiveId" clId="{953FD153-42E6-421A-BB70-EF37DB41D7EC}"/>
    <pc:docChg chg="modSld">
      <pc:chgData name="Lerato Legodi" userId="cc3b4b859ddf9743" providerId="LiveId" clId="{953FD153-42E6-421A-BB70-EF37DB41D7EC}" dt="2026-09-28T07:39:10.394" v="1" actId="6549"/>
      <pc:docMkLst>
        <pc:docMk/>
      </pc:docMkLst>
      <pc:sldChg chg="modSp mod">
        <pc:chgData name="Lerato Legodi" userId="cc3b4b859ddf9743" providerId="LiveId" clId="{953FD153-42E6-421A-BB70-EF37DB41D7EC}" dt="2026-09-28T07:38:24.801" v="0" actId="6549"/>
        <pc:sldMkLst>
          <pc:docMk/>
          <pc:sldMk cId="0" sldId="256"/>
        </pc:sldMkLst>
        <pc:spChg chg="mod">
          <ac:chgData name="Lerato Legodi" userId="cc3b4b859ddf9743" providerId="LiveId" clId="{953FD153-42E6-421A-BB70-EF37DB41D7EC}" dt="2026-09-28T07:38:24.801" v="0" actId="6549"/>
          <ac:spMkLst>
            <pc:docMk/>
            <pc:sldMk cId="0" sldId="256"/>
            <ac:spMk id="8" creationId="{00000000-0000-0000-0000-000000000000}"/>
          </ac:spMkLst>
        </pc:spChg>
      </pc:sldChg>
      <pc:sldChg chg="modSp mod">
        <pc:chgData name="Lerato Legodi" userId="cc3b4b859ddf9743" providerId="LiveId" clId="{953FD153-42E6-421A-BB70-EF37DB41D7EC}" dt="2026-09-28T07:39:10.394" v="1" actId="6549"/>
        <pc:sldMkLst>
          <pc:docMk/>
          <pc:sldMk cId="0" sldId="257"/>
        </pc:sldMkLst>
        <pc:spChg chg="mod">
          <ac:chgData name="Lerato Legodi" userId="cc3b4b859ddf9743" providerId="LiveId" clId="{953FD153-42E6-421A-BB70-EF37DB41D7EC}" dt="2026-09-28T07:39:10.394" v="1" actId="6549"/>
          <ac:spMkLst>
            <pc:docMk/>
            <pc:sldMk cId="0" sldId="257"/>
            <ac:spMk id="13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FFFFFF"/>
                </a:solidFill>
                <a:latin typeface="Arial"/>
              </a:rPr>
              <a:t>Change in daily units sold vs a normal day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Change in daily units sold</c:v>
                </c:pt>
              </c:strCache>
            </c:strRef>
          </c:tx>
          <c:spPr>
            <a:solidFill>
              <a:srgbClr val="E8734A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E873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D8CB-4905-8AB4-A0200136DEE0}"/>
              </c:ext>
            </c:extLst>
          </c:dPt>
          <c:dPt>
            <c:idx val="1"/>
            <c:invertIfNegative val="0"/>
            <c:bubble3D val="0"/>
            <c:spPr>
              <a:solidFill>
                <a:srgbClr val="E873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8CB-4905-8AB4-A0200136DEE0}"/>
              </c:ext>
            </c:extLst>
          </c:dPt>
          <c:dPt>
            <c:idx val="2"/>
            <c:invertIfNegative val="0"/>
            <c:bubble3D val="0"/>
            <c:spPr>
              <a:solidFill>
                <a:srgbClr val="8A93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D8CB-4905-8AB4-A0200136DEE0}"/>
              </c:ext>
            </c:extLst>
          </c:dPt>
          <c:dLbls>
            <c:numFmt formatCode="\+0&quot;%&quot;;\-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Black Friday</c:v>
                </c:pt>
                <c:pt idx="1">
                  <c:v>New Year</c:v>
                </c:pt>
                <c:pt idx="2">
                  <c:v>Quarter-end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124</c:v>
                </c:pt>
                <c:pt idx="1">
                  <c:v>29</c:v>
                </c:pt>
                <c:pt idx="2">
                  <c:v>-13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D8CB-4905-8AB4-A0200136DEE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D5DAE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758054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This short deck explains, in plain terms, what we learned about our promotions and our profit.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headlines: promotions bring shoppers, but overall we lose a little on each sale, and late 2016 looks better.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Price sensitivity simply means: when we lower the price, how much more do we sell? Black Friday and New Year show shoppers react strongly.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 quarter-end the price barely moved, so there was no real discount. Our second check gave a different picture, so treat this one with caution.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Across the whole period, the cost of what we sold was slightly higher than the money we took 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From roughly September 2016 the business made a profit on sales instead of a loss. We do not yet know why.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simple actions, in order of importance.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48640" y="640080"/>
            <a:ext cx="256032" cy="25603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685800" y="777240"/>
            <a:ext cx="548640" cy="548640"/>
          </a:xfrm>
          <a:prstGeom prst="line">
            <a:avLst/>
          </a:prstGeom>
          <a:noFill/>
          <a:ln w="317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1115568" y="1207008"/>
            <a:ext cx="256032" cy="256032"/>
          </a:xfrm>
          <a:prstGeom prst="ellipse">
            <a:avLst/>
          </a:prstGeom>
          <a:solidFill>
            <a:srgbClr val="E8734A"/>
          </a:solidFill>
          <a:ln w="12700">
            <a:solidFill>
              <a:srgbClr val="E873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 txBox="1"/>
          <p:nvPr/>
        </p:nvSpPr>
        <p:spPr>
          <a:xfrm>
            <a:off x="548640" y="182880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Elastic Edge</a:t>
            </a:r>
            <a:endParaRPr lang="en-US" sz="4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7432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E87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 our promotions paying off?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42062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short answer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457200" y="1371600"/>
            <a:ext cx="2651760" cy="2468880"/>
          </a:xfrm>
          <a:prstGeom prst="roundRect">
            <a:avLst>
              <a:gd name="adj" fmla="val 2963"/>
            </a:avLst>
          </a:prstGeom>
          <a:solidFill>
            <a:srgbClr val="2A3756"/>
          </a:solidFill>
          <a:ln w="12700">
            <a:solidFill>
              <a:srgbClr val="2A37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640080" y="16002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E87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+124%</a:t>
            </a:r>
            <a:endParaRPr lang="en-US" sz="38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514600"/>
            <a:ext cx="2286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units sold on Black Friday, when we cut the price by about 10%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3246120" y="1371600"/>
            <a:ext cx="2651760" cy="2468880"/>
          </a:xfrm>
          <a:prstGeom prst="roundRect">
            <a:avLst>
              <a:gd name="adj" fmla="val 2963"/>
            </a:avLst>
          </a:prstGeom>
          <a:solidFill>
            <a:srgbClr val="2A3756"/>
          </a:solidFill>
          <a:ln w="12700">
            <a:solidFill>
              <a:srgbClr val="2A37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3429000" y="16002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E87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R104</a:t>
            </a:r>
            <a:endParaRPr lang="en-US" sz="3800" dirty="0"/>
          </a:p>
        </p:txBody>
      </p:sp>
      <p:sp>
        <p:nvSpPr>
          <p:cNvPr id="9" name="Text 6"/>
          <p:cNvSpPr txBox="1"/>
          <p:nvPr/>
        </p:nvSpPr>
        <p:spPr>
          <a:xfrm>
            <a:off x="3429000" y="2514600"/>
            <a:ext cx="2286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cost us for every R100 we sold, across almost 3 years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035040" y="1371600"/>
            <a:ext cx="2651760" cy="2468880"/>
          </a:xfrm>
          <a:prstGeom prst="roundRect">
            <a:avLst>
              <a:gd name="adj" fmla="val 2963"/>
            </a:avLst>
          </a:prstGeom>
          <a:solidFill>
            <a:srgbClr val="2A3756"/>
          </a:solidFill>
          <a:ln w="12700">
            <a:solidFill>
              <a:srgbClr val="2A37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6217920" y="16002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E87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+9%</a:t>
            </a:r>
            <a:endParaRPr lang="en-US" sz="3800" dirty="0"/>
          </a:p>
        </p:txBody>
      </p:sp>
      <p:sp>
        <p:nvSpPr>
          <p:cNvPr id="12" name="Text 9"/>
          <p:cNvSpPr txBox="1"/>
          <p:nvPr/>
        </p:nvSpPr>
        <p:spPr>
          <a:xfrm>
            <a:off x="6217920" y="2514600"/>
            <a:ext cx="2286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profit margin reached in October 2016, after most months made a small loss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Cheaper prices bring more shoppers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280160"/>
            <a:ext cx="39319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 Friday: </a:t>
            </a: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cut about 10%. Units sold jumped 124%, more than double a normal day.</a:t>
            </a:r>
            <a:endParaRPr lang="en-US" sz="16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Year: </a:t>
            </a: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cut about 5%. Units sold rose 29%.</a:t>
            </a:r>
            <a:endParaRPr lang="en-US" sz="16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Shoppers clearly respond to lower prices.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2976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5DA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Compared with an average normal (non-promotion) day.</a:t>
            </a:r>
            <a:endParaRPr lang="en-US" sz="11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4572000" y="1188720"/>
          <a:ext cx="411480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Quarter-end was different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457200" y="1371600"/>
            <a:ext cx="4023360" cy="2926080"/>
          </a:xfrm>
          <a:prstGeom prst="roundRect">
            <a:avLst>
              <a:gd name="adj" fmla="val 2500"/>
            </a:avLst>
          </a:prstGeom>
          <a:solidFill>
            <a:srgbClr val="2A3756"/>
          </a:solidFill>
          <a:ln w="12700">
            <a:solidFill>
              <a:srgbClr val="2A37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685800" y="15544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7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saw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2148840"/>
            <a:ext cx="3566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price stayed about the same, so shoppers had no reason to buy more. Units sold slipped about 13% below a normal day.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663440" y="1371600"/>
            <a:ext cx="4023360" cy="2926080"/>
          </a:xfrm>
          <a:prstGeom prst="roundRect">
            <a:avLst>
              <a:gd name="adj" fmla="val 2500"/>
            </a:avLst>
          </a:prstGeom>
          <a:solidFill>
            <a:srgbClr val="2A3756"/>
          </a:solidFill>
          <a:ln w="12700">
            <a:solidFill>
              <a:srgbClr val="2A37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4892040" y="15544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7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sure are we?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4892040" y="2148840"/>
            <a:ext cx="3566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fully. When we compared with just the two weeks either side, there was a small price dip and higher sales. This result is less clear than the other two.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 we making money?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457200" y="1280160"/>
            <a:ext cx="2651760" cy="2468880"/>
          </a:xfrm>
          <a:prstGeom prst="roundRect">
            <a:avLst>
              <a:gd name="adj" fmla="val 2963"/>
            </a:avLst>
          </a:prstGeom>
          <a:solidFill>
            <a:srgbClr val="2A3756"/>
          </a:solidFill>
          <a:ln w="12700">
            <a:solidFill>
              <a:srgbClr val="2A37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640080" y="15087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R186.9M</a:t>
            </a:r>
            <a:endParaRPr lang="en-US" sz="38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423160"/>
            <a:ext cx="2286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sales, Dec 2013 to Nov 2016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3246120" y="1280160"/>
            <a:ext cx="2651760" cy="2468880"/>
          </a:xfrm>
          <a:prstGeom prst="roundRect">
            <a:avLst>
              <a:gd name="adj" fmla="val 2963"/>
            </a:avLst>
          </a:prstGeom>
          <a:solidFill>
            <a:srgbClr val="2A3756"/>
          </a:solidFill>
          <a:ln w="12700">
            <a:solidFill>
              <a:srgbClr val="2A37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3429000" y="15087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R194.0M</a:t>
            </a:r>
            <a:endParaRPr lang="en-US" sz="3800" dirty="0"/>
          </a:p>
        </p:txBody>
      </p:sp>
      <p:sp>
        <p:nvSpPr>
          <p:cNvPr id="9" name="Text 6"/>
          <p:cNvSpPr txBox="1"/>
          <p:nvPr/>
        </p:nvSpPr>
        <p:spPr>
          <a:xfrm>
            <a:off x="3429000" y="2423160"/>
            <a:ext cx="2286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cost of sales over the same period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035040" y="1280160"/>
            <a:ext cx="2651760" cy="2468880"/>
          </a:xfrm>
          <a:prstGeom prst="roundRect">
            <a:avLst>
              <a:gd name="adj" fmla="val 2963"/>
            </a:avLst>
          </a:prstGeom>
          <a:solidFill>
            <a:srgbClr val="2A3756"/>
          </a:solidFill>
          <a:ln w="12700">
            <a:solidFill>
              <a:srgbClr val="2A37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6217920" y="15087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E87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-3.8%</a:t>
            </a:r>
            <a:endParaRPr lang="en-US" sz="3800" dirty="0"/>
          </a:p>
        </p:txBody>
      </p:sp>
      <p:sp>
        <p:nvSpPr>
          <p:cNvPr id="12" name="Text 9"/>
          <p:cNvSpPr txBox="1"/>
          <p:nvPr/>
        </p:nvSpPr>
        <p:spPr>
          <a:xfrm>
            <a:off x="6217920" y="2423160"/>
            <a:ext cx="2286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profit margin: about R4 lost for every R100 sold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4023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5DA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months lost a little. At the worst point, about R9 was lost for every R100 sold.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news: late 2016 turned around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457200" y="1371600"/>
            <a:ext cx="3291840" cy="2926080"/>
          </a:xfrm>
          <a:prstGeom prst="roundRect">
            <a:avLst>
              <a:gd name="adj" fmla="val 2500"/>
            </a:avLst>
          </a:prstGeom>
          <a:solidFill>
            <a:srgbClr val="2A3756"/>
          </a:solidFill>
          <a:ln w="12700">
            <a:solidFill>
              <a:srgbClr val="2A37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640080" y="164592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E87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+9%</a:t>
            </a:r>
            <a:endParaRPr lang="en-US" sz="54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74320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profit margin in October 2016, the best month on record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4114800" y="1463040"/>
            <a:ext cx="45720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about September 2016, we made a profit instead of a loss.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last three months of data were all positive.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do not yet know what changed. Finding out is the next step, so we can repeat it.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recommend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457200" y="1371600"/>
            <a:ext cx="502920" cy="50292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45720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1188720" y="128016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the Black Friday and New Year promotions.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D5DA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bring in far more shoppers.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57200" y="2194560"/>
            <a:ext cx="502920" cy="50292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457200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1188720" y="21031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Rethink the Quarter-end promotion.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D5DA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There was no real discount and sales fell.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57200" y="3017520"/>
            <a:ext cx="502920" cy="50292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457200" y="3017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1188720" y="292608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out why costs are higher than sales.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D5DA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this before pushing more volume through discounts.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457200" y="3840480"/>
            <a:ext cx="502920" cy="50292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457200" y="3840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1188720" y="374904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 what changed in late 2016.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D5DA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 repeat it, because that is when we started to make a profit.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559</Words>
  <Application>Microsoft Office PowerPoint</Application>
  <PresentationFormat>On-screen Show (16:9)</PresentationFormat>
  <Paragraphs>61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9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Lerato Legodi</cp:lastModifiedBy>
  <cp:revision>1</cp:revision>
  <dcterms:created xsi:type="dcterms:W3CDTF">2026-09-28T07:31:34Z</dcterms:created>
  <dcterms:modified xsi:type="dcterms:W3CDTF">2026-09-28T07:39:19Z</dcterms:modified>
</cp:coreProperties>
</file>